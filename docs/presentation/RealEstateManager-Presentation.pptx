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901C5C7-71E4-84AD-5EC8-E179EF7DD594}">
          <p14:sldIdLst>
            <p14:sldId id="256"/>
            <p14:sldId id="257"/>
            <p14:sldId id="258"/>
          </p14:sldIdLst>
        </p14:section>
        <p14:section name="The system" id="{8F322B04-8D99-BAF9-C7B7-1A4D379AFD2D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Working with us" id="{09F3BF26-37D9-08F7-D6AF-A977D672326E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s Eissa Odeh" userId="089dbed7-3d7a-42b3-8f53-8167a766c37c" providerId="ADAL" clId="{B421D037-F168-4571-B89B-428FAB7A4B1C}"/>
    <pc:docChg chg="modSld">
      <pc:chgData name="Anas Eissa Odeh" userId="089dbed7-3d7a-42b3-8f53-8167a766c37c" providerId="ADAL" clId="{B421D037-F168-4571-B89B-428FAB7A4B1C}" dt="2026-10-26T08:01:06.130" v="40" actId="20577"/>
      <pc:docMkLst>
        <pc:docMk/>
      </pc:docMkLst>
      <pc:sldChg chg="modSp mod">
        <pc:chgData name="Anas Eissa Odeh" userId="089dbed7-3d7a-42b3-8f53-8167a766c37c" providerId="ADAL" clId="{B421D037-F168-4571-B89B-428FAB7A4B1C}" dt="2026-10-26T07:55:05.342" v="30" actId="20577"/>
        <pc:sldMkLst>
          <pc:docMk/>
          <pc:sldMk cId="0" sldId="256"/>
        </pc:sldMkLst>
        <pc:spChg chg="mod">
          <ac:chgData name="Anas Eissa Odeh" userId="089dbed7-3d7a-42b3-8f53-8167a766c37c" providerId="ADAL" clId="{B421D037-F168-4571-B89B-428FAB7A4B1C}" dt="2026-10-26T07:55:05.342" v="30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Anas Eissa Odeh" userId="089dbed7-3d7a-42b3-8f53-8167a766c37c" providerId="ADAL" clId="{B421D037-F168-4571-B89B-428FAB7A4B1C}" dt="2026-10-26T08:01:06.130" v="40" actId="20577"/>
        <pc:sldMkLst>
          <pc:docMk/>
          <pc:sldMk cId="0" sldId="271"/>
        </pc:sldMkLst>
        <pc:spChg chg="mod">
          <ac:chgData name="Anas Eissa Odeh" userId="089dbed7-3d7a-42b3-8f53-8167a766c37c" providerId="ADAL" clId="{B421D037-F168-4571-B89B-428FAB7A4B1C}" dt="2026-10-26T08:01:06.130" v="40" actId="20577"/>
          <ac:spMkLst>
            <pc:docMk/>
            <pc:sldMk cId="0" sldId="271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768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thank them for their time. One sentence on who you are. Promise: in 30 minutes they will see how the whole property cycle - from signing a lease to closing the month - runs in one system, with the accounting done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which of these four they recognise. Let them talk - their answer tells you which modules to emphasise later. Most UAE landlords name the cheques and the month-end.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idea to leave them with: operations and accounting are not two systems. Nobody writes a journal by hand for day-to-day work, and the system refuses any journal that does not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chain left to right. Stress that the lease is the pivot: once it is approved, the full year of invoices and the monthly revenue plan exist. The rest of the deck follows these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 from the demo company. Point to occupancy, the receivables card and the PDC summary. Mention it can be printed for management meetings.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the demo: annual rent 120,000 billed quarterly gives four invoices and twelve monthly revenue entries the moment the contract is approved. Show the draft contract print if they ask about paperwork.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usually lands well with UAE landlords. The register shows every cheque, its date and status; clearing it settles the invoice and moves the money to the bank in one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2026 e-invoicing mandate if relevant to them. Input VAT on supplier bills is attributed line by line, so a bill covering a commercial and a residential building is reclaimed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whether they own, manage, or both. One flag on the property changes all the accounting, so a mixed portfolio is handled in one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one quick unless they have a finance person in the room. The point: costs land on the right building, so profit by property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example from the demo company: October showed depreciation in red because it had not run. One click on Run depreciation posted it and the light turned green. Auditors like the reopen approval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tenant health ranking scores every tenant on collections, overdue amounts, cheque reliability and tenure - useful before a renewal. P&amp;L by Property answers which building actually makes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phone screens of the tenant portal. Tenants sign in with their own account and see only their own contracts and invoices.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customer has an internal audit or an external auditor, this is the slide that matters to them. Emphasise the locked periods and the audit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concrete next step: agree the trial start date and who on their side will be the first users. Offer to set up their properties during the 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them, invite questions, and confirm the agreed next step and date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24028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RealEstateManager  ·  Property, leasing and accounting in one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g"/><Relationship Id="rId3" Type="http://schemas.openxmlformats.org/officeDocument/2006/relationships/image" Target="../media/image44.png"/><Relationship Id="rId7" Type="http://schemas.openxmlformats.org/officeDocument/2006/relationships/image" Target="../media/image4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40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315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731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RealEstateManager</a:t>
            </a:r>
            <a:endParaRPr lang="en-US" sz="2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2402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Your property portfolio, leases and accounts — in one system</a:t>
            </a:r>
            <a:endParaRPr lang="en-US" sz="48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Built for UAE property owners and managers: VAT, e-invoicing and post-dated cheques handled from day one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15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Prepared for Al Mouj Al Azraq Real Estate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26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8CC"/>
                </a:solidFill>
              </a:rPr>
              <a:t>Product presentation  ·  October 2026</a:t>
            </a:r>
            <a:endParaRPr lang="en-US" sz="1200" dirty="0"/>
          </a:p>
        </p:txBody>
      </p:sp>
      <p:sp>
        <p:nvSpPr>
          <p:cNvPr id="8" name="shot-frame"/>
          <p:cNvSpPr/>
          <p:nvPr/>
        </p:nvSpPr>
        <p:spPr>
          <a:xfrm>
            <a:off x="8503920" y="1188720"/>
            <a:ext cx="3154680" cy="448056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  <a:effectLst>
            <a:outerShdw blurRad="101600" dist="25400" dir="5400000" algn="bl" rotWithShape="0">
              <a:srgbClr val="0F27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screenshot" descr="Dashboard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188720"/>
            <a:ext cx="3154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Running a portfolio on spreadsheets costs time and control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691640"/>
            <a:ext cx="2596896" cy="379476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con-circle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con" descr="FaFileExc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22329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01752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Scattered records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94760"/>
            <a:ext cx="19568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Leases, tenants and rent schedules live in separate spreadsheets that no one fully trusts.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364992" y="1691640"/>
            <a:ext cx="2596896" cy="379476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con-circle"/>
          <p:cNvSpPr/>
          <p:nvPr/>
        </p:nvSpPr>
        <p:spPr>
          <a:xfrm>
            <a:off x="3685032" y="205740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con" descr="FaMoney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597" y="22329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85032" y="301752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Cheques tracked by hand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685032" y="3794760"/>
            <a:ext cx="19568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Dozens of post-dated cheques per building, followed in a register that never matches the bank.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181344" y="1691640"/>
            <a:ext cx="2596896" cy="379476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-circle"/>
          <p:cNvSpPr/>
          <p:nvPr/>
        </p:nvSpPr>
        <p:spPr>
          <a:xfrm>
            <a:off x="6501384" y="205740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con" descr="FaCalculat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949" y="223296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1384" y="301752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Accounting done twice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501384" y="3794760"/>
            <a:ext cx="19568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Operations staff record it once; the accountant re-keys it into a separate ledger.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8997696" y="1691640"/>
            <a:ext cx="2596896" cy="379476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con-circle"/>
          <p:cNvSpPr/>
          <p:nvPr/>
        </p:nvSpPr>
        <p:spPr>
          <a:xfrm>
            <a:off x="9317736" y="205740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" descr="FaTriangleExclam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3301" y="223296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17736" y="301752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Late, uncertain month-end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9317736" y="3794760"/>
            <a:ext cx="19568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Missed depreciation, unrecognised rent and VAT surprises found only after the figures go 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One system where every action is also the accounting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Sign a lease, receive a cheque, pay a supplier — RealEstateManager writes the balanced double-entry journal for you.</a:t>
            </a:r>
            <a:endParaRPr lang="en-US" sz="20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Your team works in property terms. Your accountant gets a complete, audit-ready ledger.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690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100%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834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of postings created automatically and always balanced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40690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49834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VAT treatments chosen per unit: standard, zero-rated, exempt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40690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49834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screen to close the month, with a traffic light per task</a:t>
            </a:r>
            <a:endParaRPr lang="en-US" sz="1200" dirty="0"/>
          </a:p>
        </p:txBody>
      </p:sp>
      <p:sp>
        <p:nvSpPr>
          <p:cNvPr id="10" name="icon-circle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con" descr="FaLayerGro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80136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040880" y="1655064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Operations and finance together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Portfolio, leasing, collections, payables, assets and reporting share one database.</a:t>
            </a:r>
            <a:endParaRPr lang="en-US" sz="1500" dirty="0"/>
          </a:p>
        </p:txBody>
      </p:sp>
      <p:sp>
        <p:nvSpPr>
          <p:cNvPr id="13" name="icon-circle"/>
          <p:cNvSpPr/>
          <p:nvPr/>
        </p:nvSpPr>
        <p:spPr>
          <a:xfrm>
            <a:off x="640080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con" descr="FaLand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2186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40880" y="3072384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Made for the UAE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VAT and tax invoices, PINT AE e-invoicing, post-dated cheques, owned and managed property.</a:t>
            </a:r>
            <a:endParaRPr lang="en-US" sz="1500" dirty="0"/>
          </a:p>
        </p:txBody>
      </p:sp>
      <p:sp>
        <p:nvSpPr>
          <p:cNvPr id="16" name="icon-circle"/>
          <p:cNvSpPr/>
          <p:nvPr/>
        </p:nvSpPr>
        <p:spPr>
          <a:xfrm>
            <a:off x="6400800" y="4526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con" descr="FaShieldHalv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463600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40880" y="4489704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 built in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Permissions, four-eyes approvals, locked closed months and a full audit trail.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From signed lease to closed month, step by step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828800"/>
            <a:ext cx="1664208" cy="274320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con-circle"/>
          <p:cNvSpPr/>
          <p:nvPr/>
        </p:nvSpPr>
        <p:spPr>
          <a:xfrm>
            <a:off x="1014984" y="21488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con" descr="FaBuil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549" y="232440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0175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chemeClr val="tx2"/>
                </a:solidFill>
              </a:rPr>
              <a:t>Property &amp; units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7490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Owned or managed, with VAT status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240280" y="2377440"/>
            <a:ext cx="17373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ard"/>
          <p:cNvSpPr/>
          <p:nvPr/>
        </p:nvSpPr>
        <p:spPr>
          <a:xfrm>
            <a:off x="2441448" y="1828800"/>
            <a:ext cx="1664208" cy="274320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icon-circle"/>
          <p:cNvSpPr/>
          <p:nvPr/>
        </p:nvSpPr>
        <p:spPr>
          <a:xfrm>
            <a:off x="2907792" y="21488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con" descr="FaFileContra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357" y="232440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32888" y="30175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chemeClr val="tx2"/>
                </a:solidFill>
              </a:rPr>
              <a:t>Lease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2578608" y="37490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Creates every invoice and the revenue plan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133088" y="2377440"/>
            <a:ext cx="17373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4334256" y="1828800"/>
            <a:ext cx="1664208" cy="274320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con-circle"/>
          <p:cNvSpPr/>
          <p:nvPr/>
        </p:nvSpPr>
        <p:spPr>
          <a:xfrm>
            <a:off x="4800600" y="21488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con" descr="FaFileInvoiceDoll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6165" y="232440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25696" y="30175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chemeClr val="tx2"/>
                </a:solidFill>
              </a:rPr>
              <a:t>Invoices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4471416" y="37490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UAE tax invoices, e-invoicing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025896" y="2377440"/>
            <a:ext cx="17373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"/>
          <p:cNvSpPr/>
          <p:nvPr/>
        </p:nvSpPr>
        <p:spPr>
          <a:xfrm>
            <a:off x="6227064" y="1828800"/>
            <a:ext cx="1664208" cy="274320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con-circle"/>
          <p:cNvSpPr/>
          <p:nvPr/>
        </p:nvSpPr>
        <p:spPr>
          <a:xfrm>
            <a:off x="6693408" y="21488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con" descr="FaMoneyCheckDoll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973" y="2324405"/>
            <a:ext cx="380390" cy="38039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318504" y="30175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chemeClr val="tx2"/>
                </a:solidFill>
              </a:rPr>
              <a:t>Cheques &amp; receipts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6364224" y="37490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PDCs tracked until they clear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918704" y="2377440"/>
            <a:ext cx="17373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card"/>
          <p:cNvSpPr/>
          <p:nvPr/>
        </p:nvSpPr>
        <p:spPr>
          <a:xfrm>
            <a:off x="8119872" y="1828800"/>
            <a:ext cx="1664208" cy="274320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icon-circle"/>
          <p:cNvSpPr/>
          <p:nvPr/>
        </p:nvSpPr>
        <p:spPr>
          <a:xfrm>
            <a:off x="8586216" y="21488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con" descr="FaChartLi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1781" y="2324405"/>
            <a:ext cx="380390" cy="38039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211312" y="30175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chemeClr val="tx2"/>
                </a:solidFill>
              </a:rPr>
              <a:t>Revenue</a:t>
            </a:r>
            <a:endParaRPr lang="en-US" sz="1550" dirty="0"/>
          </a:p>
        </p:txBody>
      </p:sp>
      <p:sp>
        <p:nvSpPr>
          <p:cNvPr id="31" name="Text 24"/>
          <p:cNvSpPr txBox="1"/>
          <p:nvPr/>
        </p:nvSpPr>
        <p:spPr>
          <a:xfrm>
            <a:off x="8257032" y="37490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Recognised month by month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9811512" y="2377440"/>
            <a:ext cx="17373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card"/>
          <p:cNvSpPr/>
          <p:nvPr/>
        </p:nvSpPr>
        <p:spPr>
          <a:xfrm>
            <a:off x="10012680" y="1828800"/>
            <a:ext cx="1664208" cy="274320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con-circle"/>
          <p:cNvSpPr/>
          <p:nvPr/>
        </p:nvSpPr>
        <p:spPr>
          <a:xfrm>
            <a:off x="10479024" y="21488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con" descr="FaClipboardChec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4589" y="2324405"/>
            <a:ext cx="380390" cy="38039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104120" y="30175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chemeClr val="tx2"/>
                </a:solidFill>
              </a:rPr>
              <a:t>Close &amp; report</a:t>
            </a:r>
            <a:endParaRPr lang="en-US" sz="1550" dirty="0"/>
          </a:p>
        </p:txBody>
      </p:sp>
      <p:sp>
        <p:nvSpPr>
          <p:cNvPr id="37" name="Text 29"/>
          <p:cNvSpPr txBox="1"/>
          <p:nvPr/>
        </p:nvSpPr>
        <p:spPr>
          <a:xfrm>
            <a:off x="10149840" y="37490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Checklist, lock, statements</a:t>
            </a:r>
            <a:endParaRPr lang="en-US" sz="1300" dirty="0"/>
          </a:p>
        </p:txBody>
      </p:sp>
      <p:sp>
        <p:nvSpPr>
          <p:cNvPr id="38" name="card"/>
          <p:cNvSpPr/>
          <p:nvPr/>
        </p:nvSpPr>
        <p:spPr>
          <a:xfrm>
            <a:off x="548640" y="49377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BF6E6"/>
          </a:solidFill>
          <a:ln w="12700">
            <a:solidFill>
              <a:srgbClr val="FBF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icon-circle"/>
          <p:cNvSpPr/>
          <p:nvPr/>
        </p:nvSpPr>
        <p:spPr>
          <a:xfrm>
            <a:off x="822960" y="5120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con" descr="FaScaleBalanc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634" y="5252314"/>
            <a:ext cx="285293" cy="285293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554480" y="507492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 step posts its own journal automatically. </a:t>
            </a:r>
            <a:r>
              <a:rPr lang="en-US" sz="1500" dirty="0">
                <a:solidFill>
                  <a:schemeClr val="tx1"/>
                </a:solidFill>
              </a:rPr>
              <a:t>Nothing reaches the reports until it is posted, and nothing can be posted into a closed month.</a:t>
            </a:r>
            <a:endParaRPr lang="en-US" sz="15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The whole portfolio at a glance</a:t>
            </a:r>
            <a:endParaRPr lang="en-US" sz="3200" dirty="0"/>
          </a:p>
        </p:txBody>
      </p:sp>
      <p:sp>
        <p:nvSpPr>
          <p:cNvPr id="3" name="shot-frame"/>
          <p:cNvSpPr/>
          <p:nvPr/>
        </p:nvSpPr>
        <p:spPr>
          <a:xfrm>
            <a:off x="548640" y="1463040"/>
            <a:ext cx="7223760" cy="47548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  <a:effectLst>
            <a:outerShdw blurRad="101600" dist="25400" dir="5400000" algn="bl" rotWithShape="0">
              <a:srgbClr val="0F27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screenshot" descr="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223760" cy="4754880"/>
          </a:xfrm>
          <a:prstGeom prst="rect">
            <a:avLst/>
          </a:prstGeom>
        </p:spPr>
      </p:pic>
      <p:sp>
        <p:nvSpPr>
          <p:cNvPr id="5" name="icon-circle"/>
          <p:cNvSpPr/>
          <p:nvPr/>
        </p:nvSpPr>
        <p:spPr>
          <a:xfrm>
            <a:off x="813816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con" descr="FaHou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66420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78240" y="1517904"/>
            <a:ext cx="28803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Occupancy and vacancy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Occupied, vacant, under maintenance and reserved units, live.</a:t>
            </a:r>
            <a:endParaRPr lang="en-US" sz="1500" dirty="0"/>
          </a:p>
        </p:txBody>
      </p:sp>
      <p:sp>
        <p:nvSpPr>
          <p:cNvPr id="8" name="icon-circle"/>
          <p:cNvSpPr/>
          <p:nvPr/>
        </p:nvSpPr>
        <p:spPr>
          <a:xfrm>
            <a:off x="8138160" y="2715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con" descr="FaHandHoldingDoll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28254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78240" y="2679192"/>
            <a:ext cx="28803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Collections and overdue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This month's billing against cash in, and what is overdue.</a:t>
            </a:r>
            <a:endParaRPr lang="en-US" sz="1500" dirty="0"/>
          </a:p>
        </p:txBody>
      </p:sp>
      <p:sp>
        <p:nvSpPr>
          <p:cNvPr id="11" name="icon-circle"/>
          <p:cNvSpPr/>
          <p:nvPr/>
        </p:nvSpPr>
        <p:spPr>
          <a:xfrm>
            <a:off x="8138160" y="38770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con" descr="FaMoney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398678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778240" y="3840480"/>
            <a:ext cx="28803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Cheques and cash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Uncleared PDCs, bank balance and what is owed to landlords.</a:t>
            </a:r>
            <a:endParaRPr lang="en-US" sz="1500" dirty="0"/>
          </a:p>
        </p:txBody>
      </p:sp>
      <p:sp>
        <p:nvSpPr>
          <p:cNvPr id="14" name="icon-circle"/>
          <p:cNvSpPr/>
          <p:nvPr/>
        </p:nvSpPr>
        <p:spPr>
          <a:xfrm>
            <a:off x="8138160" y="50383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con" descr="FaCalendarChe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7888" y="5148072"/>
            <a:ext cx="237744" cy="2377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778240" y="5001768"/>
            <a:ext cx="28803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Months not yet closed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Overdue closings and reopen requests waiting.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Leasing: one contract creates a year of work</a:t>
            </a:r>
            <a:endParaRPr lang="en-US" sz="3200" dirty="0"/>
          </a:p>
        </p:txBody>
      </p:sp>
      <p:sp>
        <p:nvSpPr>
          <p:cNvPr id="3" name="icon-circle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con" descr="FaFileContra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6420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517904"/>
            <a:ext cx="38404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Automatic schedules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Billing monthly to annually: every invoice and the monthly revenue plan are generated on approval.</a:t>
            </a:r>
            <a:endParaRPr lang="en-US" sz="1500" dirty="0"/>
          </a:p>
        </p:txBody>
      </p:sp>
      <p:sp>
        <p:nvSpPr>
          <p:cNvPr id="6" name="icon-circle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con" descr="FaUser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82549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679192"/>
            <a:ext cx="38404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Two-level approval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A second person approves each contract; nobody approves their own.</a:t>
            </a:r>
            <a:endParaRPr lang="en-US" sz="1500" dirty="0"/>
          </a:p>
        </p:txBody>
      </p:sp>
      <p:sp>
        <p:nvSpPr>
          <p:cNvPr id="9" name="icon-circle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con" descr="FaQr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98678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3840480"/>
            <a:ext cx="38404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Smart contract codes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Codes show building, unit, tenancy and year; print the draft agreement and a QR label.</a:t>
            </a:r>
            <a:endParaRPr lang="en-US" sz="1500" dirty="0"/>
          </a:p>
        </p:txBody>
      </p:sp>
      <p:sp>
        <p:nvSpPr>
          <p:cNvPr id="12" name="icon-circle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con" descr="FaHouseCircle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14807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5001768"/>
            <a:ext cx="38404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double letting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A unit cannot be let twice for overlapping dates.</a:t>
            </a:r>
            <a:endParaRPr lang="en-US" sz="1500" dirty="0"/>
          </a:p>
        </p:txBody>
      </p:sp>
      <p:sp>
        <p:nvSpPr>
          <p:cNvPr id="15" name="shot-frame"/>
          <p:cNvSpPr/>
          <p:nvPr/>
        </p:nvSpPr>
        <p:spPr>
          <a:xfrm>
            <a:off x="5349240" y="1463040"/>
            <a:ext cx="6291072" cy="47548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  <a:effectLst>
            <a:outerShdw blurRad="101600" dist="25400" dir="5400000" algn="bl" rotWithShape="0">
              <a:srgbClr val="0F27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screenshot" descr="Leases lis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1463040"/>
            <a:ext cx="6291072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Collections: every cheque followed until it clears</a:t>
            </a:r>
            <a:endParaRPr lang="en-US" sz="3200" dirty="0"/>
          </a:p>
        </p:txBody>
      </p:sp>
      <p:sp>
        <p:nvSpPr>
          <p:cNvPr id="3" name="shot-frame"/>
          <p:cNvSpPr/>
          <p:nvPr/>
        </p:nvSpPr>
        <p:spPr>
          <a:xfrm>
            <a:off x="548640" y="1463040"/>
            <a:ext cx="6291072" cy="47548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  <a:effectLst>
            <a:outerShdw blurRad="101600" dist="25400" dir="5400000" algn="bl" rotWithShape="0">
              <a:srgbClr val="0F27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screenshot" descr="PDC regi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291072" cy="4754880"/>
          </a:xfrm>
          <a:prstGeom prst="rect">
            <a:avLst/>
          </a:prstGeom>
        </p:spPr>
      </p:pic>
      <p:sp>
        <p:nvSpPr>
          <p:cNvPr id="5" name="icon-circle"/>
          <p:cNvSpPr/>
          <p:nvPr/>
        </p:nvSpPr>
        <p:spPr>
          <a:xfrm>
            <a:off x="717804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con" descr="FaMoneyCheckDoll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166420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818120" y="1517904"/>
            <a:ext cx="38221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Post-dated cheques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Recorded when received, cleared when the bank honours them; each stage posts itself.</a:t>
            </a:r>
            <a:endParaRPr lang="en-US" sz="1500" dirty="0"/>
          </a:p>
        </p:txBody>
      </p:sp>
      <p:sp>
        <p:nvSpPr>
          <p:cNvPr id="8" name="icon-circle"/>
          <p:cNvSpPr/>
          <p:nvPr/>
        </p:nvSpPr>
        <p:spPr>
          <a:xfrm>
            <a:off x="7178040" y="2715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con" descr="FaReceip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28254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818120" y="2679192"/>
            <a:ext cx="38221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Receipts and part payments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Cash and transfers settle invoices, in full or in part.</a:t>
            </a:r>
            <a:endParaRPr lang="en-US" sz="1500" dirty="0"/>
          </a:p>
        </p:txBody>
      </p:sp>
      <p:sp>
        <p:nvSpPr>
          <p:cNvPr id="11" name="icon-circle"/>
          <p:cNvSpPr/>
          <p:nvPr/>
        </p:nvSpPr>
        <p:spPr>
          <a:xfrm>
            <a:off x="7178040" y="38770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con" descr="FaVau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398678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818120" y="3840480"/>
            <a:ext cx="38221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Security deposits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Held as a liability, never mistaken for rent.</a:t>
            </a:r>
            <a:endParaRPr lang="en-US" sz="1500" dirty="0"/>
          </a:p>
        </p:txBody>
      </p:sp>
      <p:sp>
        <p:nvSpPr>
          <p:cNvPr id="14" name="icon-circle"/>
          <p:cNvSpPr/>
          <p:nvPr/>
        </p:nvSpPr>
        <p:spPr>
          <a:xfrm>
            <a:off x="7178040" y="50383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con" descr="FaFileLin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7768" y="5148072"/>
            <a:ext cx="237744" cy="2377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818120" y="5001768"/>
            <a:ext cx="38221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Tenant statements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Invoices, credits, receipts and the balance, ready to send.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UAE VAT and e-invoicing, handled for you</a:t>
            </a:r>
            <a:endParaRPr lang="en-US" sz="3200" dirty="0"/>
          </a:p>
        </p:txBody>
      </p:sp>
      <p:sp>
        <p:nvSpPr>
          <p:cNvPr id="3" name="icon-circle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con" descr="FaPerc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6420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517904"/>
            <a:ext cx="38404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Right VAT per unit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Commercial 5%, new residential zero-rated, later residential exempt — applied automatically.</a:t>
            </a:r>
            <a:endParaRPr lang="en-US" sz="1500" dirty="0"/>
          </a:p>
        </p:txBody>
      </p:sp>
      <p:sp>
        <p:nvSpPr>
          <p:cNvPr id="6" name="icon-circle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con" descr="FaFileInvo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82549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679192"/>
            <a:ext cx="38404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Compliant tax invoices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One numbered series, both TRNs, simplified and full invoices, credit notes.</a:t>
            </a:r>
            <a:endParaRPr lang="en-US" sz="1500" dirty="0"/>
          </a:p>
        </p:txBody>
      </p:sp>
      <p:sp>
        <p:nvSpPr>
          <p:cNvPr id="9" name="icon-circle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con" descr="FaPaperPla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98678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3840480"/>
            <a:ext cx="38404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E-invoicing ready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PINT AE invoices queued to your provider; suppliers' e-invoices booked without retyping.</a:t>
            </a:r>
            <a:endParaRPr lang="en-US" sz="1500" dirty="0"/>
          </a:p>
        </p:txBody>
      </p:sp>
      <p:sp>
        <p:nvSpPr>
          <p:cNvPr id="12" name="icon-circle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con" descr="FaScaleBalanc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14807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5001768"/>
            <a:ext cx="38404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VAT return in one report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Output and input tax, recovery rate and the year-end wash-up.</a:t>
            </a:r>
            <a:endParaRPr lang="en-US" sz="1500" dirty="0"/>
          </a:p>
        </p:txBody>
      </p:sp>
      <p:sp>
        <p:nvSpPr>
          <p:cNvPr id="15" name="shot-frame"/>
          <p:cNvSpPr/>
          <p:nvPr/>
        </p:nvSpPr>
        <p:spPr>
          <a:xfrm>
            <a:off x="5349240" y="1463040"/>
            <a:ext cx="6291072" cy="47548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  <a:effectLst>
            <a:outerShdw blurRad="101600" dist="25400" dir="5400000" algn="bl" rotWithShape="0">
              <a:srgbClr val="0F27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screenshot" descr="Tax invoi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1463040"/>
            <a:ext cx="6291072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Owned and managed properties, side by side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508760"/>
            <a:ext cx="5367528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con-circle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con" descr="FaBuil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9476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3813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Owned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46360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Rent is your revenue, recognised month by month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Profit and loss by property and by unit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Investment property and depreciation tracked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Development projects and unit sales (off-plan or completed)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914400" y="52578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14400" y="5257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Rent invoiced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313432" y="5422392"/>
            <a:ext cx="173736" cy="219456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"/>
          <p:cNvSpPr/>
          <p:nvPr/>
        </p:nvSpPr>
        <p:spPr>
          <a:xfrm>
            <a:off x="2514600" y="52578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2514600" y="5257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Unearned rent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913632" y="5422392"/>
            <a:ext cx="173736" cy="219456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"/>
          <p:cNvSpPr/>
          <p:nvPr/>
        </p:nvSpPr>
        <p:spPr>
          <a:xfrm>
            <a:off x="4114800" y="52578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114800" y="5257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Rental revenue</a:t>
            </a:r>
            <a:endParaRPr lang="en-US" sz="1250" dirty="0"/>
          </a:p>
        </p:txBody>
      </p:sp>
      <p:sp>
        <p:nvSpPr>
          <p:cNvPr id="16" name="card"/>
          <p:cNvSpPr/>
          <p:nvPr/>
        </p:nvSpPr>
        <p:spPr>
          <a:xfrm>
            <a:off x="6190488" y="1508760"/>
            <a:ext cx="5367528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con-circle"/>
          <p:cNvSpPr/>
          <p:nvPr/>
        </p:nvSpPr>
        <p:spPr>
          <a:xfrm>
            <a:off x="6556248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con" descr="FaHandshak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947672"/>
            <a:ext cx="356616" cy="35661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424928" y="1783080"/>
            <a:ext cx="3813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Managed for landlords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6556248" y="2743200"/>
            <a:ext cx="46360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Rent is held for the landlord; only your commission is income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Monthly commission tax invoices issued in one click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Owner statement: rent billed, commission, VAT and balance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Pay the landlord with a printed settlement advice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6556248" y="52578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6556248" y="5257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Rent invoiced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955280" y="5422392"/>
            <a:ext cx="173736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"/>
          <p:cNvSpPr/>
          <p:nvPr/>
        </p:nvSpPr>
        <p:spPr>
          <a:xfrm>
            <a:off x="8156448" y="52578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8156448" y="5257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Due to landlord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9555480" y="5422392"/>
            <a:ext cx="173736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card"/>
          <p:cNvSpPr/>
          <p:nvPr/>
        </p:nvSpPr>
        <p:spPr>
          <a:xfrm>
            <a:off x="9756648" y="52578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9756648" y="5257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Your commission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Suppliers, petty cash and assets in the same ledger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con-circle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con" descr="FaFileInvoiceDoll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01716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Supplier bills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Multi-line bills charged to each property; VAT follows the supplier's registration.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con-circle"/>
          <p:cNvSpPr/>
          <p:nvPr/>
        </p:nvSpPr>
        <p:spPr>
          <a:xfrm>
            <a:off x="4572000" y="18745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con" descr="FaWall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201716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Supplier payments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606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Full or part payments, with a statement per supplier.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4672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-circle"/>
          <p:cNvSpPr/>
          <p:nvPr/>
        </p:nvSpPr>
        <p:spPr>
          <a:xfrm>
            <a:off x="8321040" y="18745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con" descr="FaCoi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86" y="201716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Petty cash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606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float per site, vouchers, top-ups and a printable cash count.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con-circle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" descr="FaCalendarDay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430316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160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Prepayments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92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Insurance or licences paid once, charged evenly month by month.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29768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con-circle"/>
          <p:cNvSpPr/>
          <p:nvPr/>
        </p:nvSpPr>
        <p:spPr>
          <a:xfrm>
            <a:off x="4572000" y="41605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con" descr="FaScrewdriverWrenc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646" y="4303166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160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Fixed assets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892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Costs collected, capitalised and depreciated automatically.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804672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icon-circle"/>
          <p:cNvSpPr/>
          <p:nvPr/>
        </p:nvSpPr>
        <p:spPr>
          <a:xfrm>
            <a:off x="8321040" y="41605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con" descr="FaUserTi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3686" y="4303166"/>
            <a:ext cx="309067" cy="30906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4160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Owner withdrawals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892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owner's personal spending kept out of company expenses.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Close every month with confidence: the Closing Cockpit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508760"/>
            <a:ext cx="603504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October checklist</a:t>
            </a:r>
            <a:endParaRPr lang="en-US" sz="1700" dirty="0"/>
          </a:p>
        </p:txBody>
      </p:sp>
      <p:sp>
        <p:nvSpPr>
          <p:cNvPr id="5" name="traffic-light"/>
          <p:cNvSpPr/>
          <p:nvPr/>
        </p:nvSpPr>
        <p:spPr>
          <a:xfrm>
            <a:off x="914400" y="231343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41732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Rent invoices of the month issued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6"/>
                </a:solidFill>
              </a:rPr>
              <a:t>All 7 posted</a:t>
            </a:r>
            <a:endParaRPr lang="en-US" sz="1250" dirty="0"/>
          </a:p>
        </p:txBody>
      </p:sp>
      <p:sp>
        <p:nvSpPr>
          <p:cNvPr id="8" name="traffic-light"/>
          <p:cNvSpPr/>
          <p:nvPr/>
        </p:nvSpPr>
        <p:spPr>
          <a:xfrm>
            <a:off x="914400" y="2935224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417320" y="2862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Revenue recognition run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862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6"/>
                </a:solidFill>
              </a:rPr>
              <a:t>Ledger agrees: 74,781.66</a:t>
            </a:r>
            <a:endParaRPr lang="en-US" sz="1250" dirty="0"/>
          </a:p>
        </p:txBody>
      </p:sp>
      <p:sp>
        <p:nvSpPr>
          <p:cNvPr id="11" name="traffic-light"/>
          <p:cNvSpPr/>
          <p:nvPr/>
        </p:nvSpPr>
        <p:spPr>
          <a:xfrm>
            <a:off x="914400" y="3557016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417320" y="34838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Depreciation run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483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6"/>
                </a:solidFill>
              </a:rPr>
              <a:t>Not posted: Run depreciation</a:t>
            </a:r>
            <a:endParaRPr lang="en-US" sz="1250" dirty="0"/>
          </a:p>
        </p:txBody>
      </p:sp>
      <p:sp>
        <p:nvSpPr>
          <p:cNvPr id="14" name="traffic-light"/>
          <p:cNvSpPr/>
          <p:nvPr/>
        </p:nvSpPr>
        <p:spPr>
          <a:xfrm>
            <a:off x="914400" y="4178808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417320" y="41056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Prepayment amortisation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41056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6"/>
                </a:solidFill>
              </a:rPr>
              <a:t>Ledger agrees: 4,800.00</a:t>
            </a:r>
            <a:endParaRPr lang="en-US" sz="1250" dirty="0"/>
          </a:p>
        </p:txBody>
      </p:sp>
      <p:sp>
        <p:nvSpPr>
          <p:cNvPr id="17" name="traffic-light"/>
          <p:cNvSpPr/>
          <p:nvPr/>
        </p:nvSpPr>
        <p:spPr>
          <a:xfrm>
            <a:off x="914400" y="4800600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417320" y="4727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Cheques due presented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7274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6"/>
                </a:solidFill>
              </a:rPr>
              <a:t>2 cheques to clear — review</a:t>
            </a:r>
            <a:endParaRPr lang="en-US" sz="1250" dirty="0"/>
          </a:p>
        </p:txBody>
      </p:sp>
      <p:sp>
        <p:nvSpPr>
          <p:cNvPr id="20" name="traffic-light"/>
          <p:cNvSpPr/>
          <p:nvPr/>
        </p:nvSpPr>
        <p:spPr>
          <a:xfrm>
            <a:off x="914400" y="542239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417320" y="5349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Ledger in balance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6"/>
                </a:solidFill>
              </a:rPr>
              <a:t>Debits equal credits</a:t>
            </a:r>
            <a:endParaRPr lang="en-US" sz="1250" dirty="0"/>
          </a:p>
        </p:txBody>
      </p:sp>
      <p:sp>
        <p:nvSpPr>
          <p:cNvPr id="23" name="icon-circle"/>
          <p:cNvSpPr/>
          <p:nvPr/>
        </p:nvSpPr>
        <p:spPr>
          <a:xfrm>
            <a:off x="694944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con" descr="FaTrafficL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664208"/>
            <a:ext cx="237744" cy="23774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589520" y="1517904"/>
            <a:ext cx="40507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Red, amber, green per task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Each process is checked against the ledger. Red blocks the close; one click runs it.</a:t>
            </a:r>
            <a:endParaRPr lang="en-US" sz="1500" dirty="0"/>
          </a:p>
        </p:txBody>
      </p:sp>
      <p:sp>
        <p:nvSpPr>
          <p:cNvPr id="26" name="icon-circle"/>
          <p:cNvSpPr/>
          <p:nvPr/>
        </p:nvSpPr>
        <p:spPr>
          <a:xfrm>
            <a:off x="6949440" y="2715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con" descr="Fa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825496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589520" y="2679192"/>
            <a:ext cx="40507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Closed means closed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Nothing can be posted, changed or deleted in a closed month.</a:t>
            </a:r>
            <a:endParaRPr lang="en-US" sz="1500" dirty="0"/>
          </a:p>
        </p:txBody>
      </p:sp>
      <p:sp>
        <p:nvSpPr>
          <p:cNvPr id="29" name="icon-circle"/>
          <p:cNvSpPr/>
          <p:nvPr/>
        </p:nvSpPr>
        <p:spPr>
          <a:xfrm>
            <a:off x="6949440" y="38770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con" descr="FaUserShiel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3986784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589520" y="3840480"/>
            <a:ext cx="40507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Reopen only on approval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A written reason, an approver's decision, and the full history kept.</a:t>
            </a:r>
            <a:endParaRPr lang="en-US" sz="1500" dirty="0"/>
          </a:p>
        </p:txBody>
      </p:sp>
      <p:sp>
        <p:nvSpPr>
          <p:cNvPr id="32" name="icon-circle"/>
          <p:cNvSpPr/>
          <p:nvPr/>
        </p:nvSpPr>
        <p:spPr>
          <a:xfrm>
            <a:off x="6949440" y="50383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con" descr="FaFlagChecker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5148072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589520" y="5001768"/>
            <a:ext cx="40507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Year-end in one step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Revenue and expenses cleared to retained earnings; balances carried forward.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Reports for owners, managers and auditors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5087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Trial Balance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2880360" y="15087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632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Profit &amp; Loss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2203704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22037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Balance Sheet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2880360" y="2203704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063240" y="22037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Cash Flow Statement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2898648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31520" y="2898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General Ledger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2880360" y="2898648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063240" y="2898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VAT Return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3593592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BF6E6"/>
          </a:solidFill>
          <a:ln w="12700">
            <a:solidFill>
              <a:srgbClr val="FBF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35935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P&amp;L by Property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2880360" y="3593592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BF6E6"/>
          </a:solidFill>
          <a:ln w="12700">
            <a:solidFill>
              <a:srgbClr val="FBF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063240" y="35935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Property Utilization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4288536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BF6E6"/>
          </a:solidFill>
          <a:ln w="12700">
            <a:solidFill>
              <a:srgbClr val="FBF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1520" y="428853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Tenant Health Ranking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2880360" y="4288536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BF6E6"/>
          </a:solidFill>
          <a:ln w="12700">
            <a:solidFill>
              <a:srgbClr val="FBF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063240" y="428853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Tenant Statements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49834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BF6E6"/>
          </a:solidFill>
          <a:ln w="12700">
            <a:solidFill>
              <a:srgbClr val="FBF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31520" y="4983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Supplier Statements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2880360" y="49834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BF6E6"/>
          </a:solidFill>
          <a:ln w="12700">
            <a:solidFill>
              <a:srgbClr val="FBF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3063240" y="4983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Owner Tenancy Schedule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15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Financial statements (blue) and management reports (gold) — every one printable</a:t>
            </a:r>
            <a:endParaRPr lang="en-US" sz="1100" dirty="0"/>
          </a:p>
        </p:txBody>
      </p:sp>
      <p:sp>
        <p:nvSpPr>
          <p:cNvPr id="28" name="shot-frame"/>
          <p:cNvSpPr/>
          <p:nvPr/>
        </p:nvSpPr>
        <p:spPr>
          <a:xfrm>
            <a:off x="5349240" y="1463040"/>
            <a:ext cx="6291072" cy="47548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  <a:effectLst>
            <a:outerShdw blurRad="101600" dist="25400" dir="5400000" algn="bl" rotWithShape="0">
              <a:srgbClr val="0F27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screenshot" descr="Tenant health re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463040"/>
            <a:ext cx="6291072" cy="4754880"/>
          </a:xfrm>
          <a:prstGeom prst="rect">
            <a:avLst/>
          </a:prstGeom>
        </p:spPr>
      </p:pic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 self-service portal your tenants can use on their phone</a:t>
            </a:r>
            <a:endParaRPr lang="en-US" sz="3200" dirty="0"/>
          </a:p>
        </p:txBody>
      </p:sp>
      <p:sp>
        <p:nvSpPr>
          <p:cNvPr id="3" name="icon-circle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con" descr="FaMobile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6420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517904"/>
            <a:ext cx="5029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Their account, any time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Invoices, payments, statement and contracts, on any phone.</a:t>
            </a:r>
            <a:endParaRPr lang="en-US" sz="1500" dirty="0"/>
          </a:p>
        </p:txBody>
      </p:sp>
      <p:sp>
        <p:nvSpPr>
          <p:cNvPr id="6" name="icon-circle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con" descr="FaWren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82549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679192"/>
            <a:ext cx="5029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Maintenance requests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Tenants raise and follow requests; your team answers from one queue.</a:t>
            </a:r>
            <a:endParaRPr lang="en-US" sz="1500" dirty="0"/>
          </a:p>
        </p:txBody>
      </p:sp>
      <p:sp>
        <p:nvSpPr>
          <p:cNvPr id="9" name="icon-circle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con" descr="FaClo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98678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3840480"/>
            <a:ext cx="5029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More time to pay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Postponement requests decided and applied without changing the accounts.</a:t>
            </a:r>
            <a:endParaRPr lang="en-US" sz="1500" dirty="0"/>
          </a:p>
        </p:txBody>
      </p:sp>
      <p:sp>
        <p:nvSpPr>
          <p:cNvPr id="12" name="icon-circle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con" descr="FaComment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14807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5001768"/>
            <a:ext cx="5029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Fewer calls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Replies are visible in the portal; internal notes stay internal.</a:t>
            </a:r>
            <a:endParaRPr lang="en-US" sz="1500" dirty="0"/>
          </a:p>
        </p:txBody>
      </p:sp>
      <p:sp>
        <p:nvSpPr>
          <p:cNvPr id="15" name="shot-frame"/>
          <p:cNvSpPr/>
          <p:nvPr/>
        </p:nvSpPr>
        <p:spPr>
          <a:xfrm>
            <a:off x="6720840" y="1463040"/>
            <a:ext cx="2197160" cy="47548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  <a:effectLst>
            <a:outerShdw blurRad="101600" dist="25400" dir="5400000" algn="bl" rotWithShape="0">
              <a:srgbClr val="0F27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screenshot" descr="Portal invoices on a pho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1463040"/>
            <a:ext cx="2197160" cy="4754880"/>
          </a:xfrm>
          <a:prstGeom prst="rect">
            <a:avLst/>
          </a:prstGeom>
        </p:spPr>
      </p:pic>
      <p:sp>
        <p:nvSpPr>
          <p:cNvPr id="17" name="shot-frame"/>
          <p:cNvSpPr/>
          <p:nvPr/>
        </p:nvSpPr>
        <p:spPr>
          <a:xfrm>
            <a:off x="9283760" y="1463040"/>
            <a:ext cx="2197160" cy="47548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  <a:effectLst>
            <a:outerShdw blurRad="101600" dist="25400" dir="5400000" algn="bl" rotWithShape="0">
              <a:srgbClr val="0F274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screenshot" descr="Portal requests on a pho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3760" y="1463040"/>
            <a:ext cx="2197160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Security and control you can show an auditor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con-circle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con" descr="FaUs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209580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Permissions by role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Leasing, accounting, approvals and reports granted separately.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con-circle"/>
          <p:cNvSpPr/>
          <p:nvPr/>
        </p:nvSpPr>
        <p:spPr>
          <a:xfrm>
            <a:off x="4572000" y="19202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con" descr="FaUser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565" y="209580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Four-eyes approvals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Contracts and period reopening need a second person.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4672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-circle"/>
          <p:cNvSpPr/>
          <p:nvPr/>
        </p:nvSpPr>
        <p:spPr>
          <a:xfrm>
            <a:off x="8321040" y="19202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con" descr="FaLo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605" y="209580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3544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Locked periods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Closed months cannot be changed by anyone.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con-circle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" descr="FaClockRotateLef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5" y="438180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37360" y="4206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Full audit log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120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Who did what and when, for every screen.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29768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con-circle"/>
          <p:cNvSpPr/>
          <p:nvPr/>
        </p:nvSpPr>
        <p:spPr>
          <a:xfrm>
            <a:off x="4572000" y="42062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con" descr="FaBuildingUs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7565" y="4381805"/>
            <a:ext cx="380390" cy="38039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6400" y="4206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Several companies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120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sign-in, separate books for each company.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804672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icon-circle"/>
          <p:cNvSpPr/>
          <p:nvPr/>
        </p:nvSpPr>
        <p:spPr>
          <a:xfrm>
            <a:off x="8321040" y="42062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con" descr="FaClou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6605" y="4381805"/>
            <a:ext cx="380390" cy="38039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35440" y="4206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Hosted and backed up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120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Secure web access from office or home; nothing to install.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Getting started is simple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0120" y="2148840"/>
            <a:ext cx="7863840" cy="0"/>
          </a:xfrm>
          <a:prstGeom prst="line">
            <a:avLst/>
          </a:prstGeom>
          <a:noFill/>
          <a:ln w="254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Set up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Company, chart of accounts, properties, units and tenants.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737360"/>
            <a:ext cx="822960" cy="82296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2461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Bring your balances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Opening balances, open invoices and cheques on hand.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737360"/>
            <a:ext cx="822960" cy="82296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Train your team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Practice company, training workbook, videos and in-screen help.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41080" y="1737360"/>
            <a:ext cx="822960" cy="82296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6410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Go live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Start with the next month; close it in the Closing Cockpit.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48006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BF6E6"/>
          </a:solidFill>
          <a:ln w="12700">
            <a:solidFill>
              <a:srgbClr val="FBF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icon-circle"/>
          <p:cNvSpPr/>
          <p:nvPr/>
        </p:nvSpPr>
        <p:spPr>
          <a:xfrm>
            <a:off x="868680" y="50292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con" descr="FaGi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5215738"/>
            <a:ext cx="404165" cy="40416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874520" y="4937760"/>
            <a:ext cx="9448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Try it free for 15 days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Your own company in the system, ready to explore with sample data, a full user manual and a step-by-step training workbook.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Questions, a live demonstration, or your 15-day trial — we are ready when you are.</a:t>
            </a:r>
            <a:endParaRPr lang="en-US" sz="2000" dirty="0"/>
          </a:p>
        </p:txBody>
      </p:sp>
      <p:sp>
        <p:nvSpPr>
          <p:cNvPr id="4" name="icon-circle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con" descr="FaU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6301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3520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Anas Odeh</a:t>
            </a:r>
            <a:endParaRPr lang="en-US" sz="1800" dirty="0"/>
          </a:p>
        </p:txBody>
      </p:sp>
      <p:sp>
        <p:nvSpPr>
          <p:cNvPr id="7" name="icon-circle"/>
          <p:cNvSpPr/>
          <p:nvPr/>
        </p:nvSpPr>
        <p:spPr>
          <a:xfrm>
            <a:off x="548640" y="41422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con" descr="FaEnvelo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519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41422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odehanas@gmail.com</a:t>
            </a:r>
            <a:endParaRPr lang="en-US" sz="1800" dirty="0"/>
          </a:p>
        </p:txBody>
      </p:sp>
      <p:sp>
        <p:nvSpPr>
          <p:cNvPr id="10" name="icon-circle"/>
          <p:cNvSpPr/>
          <p:nvPr/>
        </p:nvSpPr>
        <p:spPr>
          <a:xfrm>
            <a:off x="548640" y="47640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con" descr="FaGlob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87375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47640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realestatemanager.odehanas.com</a:t>
            </a:r>
            <a:endParaRPr lang="en-US" sz="1800" dirty="0"/>
          </a:p>
        </p:txBody>
      </p:sp>
      <p:sp>
        <p:nvSpPr>
          <p:cNvPr id="13" name="icon-circle"/>
          <p:cNvSpPr/>
          <p:nvPr/>
        </p:nvSpPr>
        <p:spPr>
          <a:xfrm>
            <a:off x="548640" y="53858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con" descr="FaPho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49554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538581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Phone: 0565022503</a:t>
            </a:r>
            <a:endParaRPr lang="en-US" sz="1800" dirty="0"/>
          </a:p>
        </p:txBody>
      </p:sp>
      <p:sp>
        <p:nvSpPr>
          <p:cNvPr id="16" name="icon-circle"/>
          <p:cNvSpPr/>
          <p:nvPr/>
        </p:nvSpPr>
        <p:spPr>
          <a:xfrm>
            <a:off x="8229600" y="2377440"/>
            <a:ext cx="2743200" cy="2743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con" descr="FaBuild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968" y="3035808"/>
            <a:ext cx="1426464" cy="1426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alEstateManager">
  <a:themeElements>
    <a:clrScheme name="RealEstateManager">
      <a:dk1>
        <a:srgbClr val="1F2933"/>
      </a:dk1>
      <a:lt1>
        <a:srgbClr val="FFFFFF"/>
      </a:lt1>
      <a:dk2>
        <a:srgbClr val="0F2740"/>
      </a:dk2>
      <a:lt2>
        <a:srgbClr val="F2F4F7"/>
      </a:lt2>
      <a:accent1>
        <a:srgbClr val="C9A227"/>
      </a:accent1>
      <a:accent2>
        <a:srgbClr val="1E6FD9"/>
      </a:accent2>
      <a:accent3>
        <a:srgbClr val="157347"/>
      </a:accent3>
      <a:accent4>
        <a:srgbClr val="E0A800"/>
      </a:accent4>
      <a:accent5>
        <a:srgbClr val="C0392B"/>
      </a:accent5>
      <a:accent6>
        <a:srgbClr val="5B6774"/>
      </a:accent6>
      <a:hlink>
        <a:srgbClr val="1E6FD9"/>
      </a:hlink>
      <a:folHlink>
        <a:srgbClr val="5B6774"/>
      </a:folHlink>
    </a:clrScheme>
    <a:fontScheme name="RealEstateManag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1850</Words>
  <Application>Microsoft Office PowerPoint</Application>
  <PresentationFormat>Widescreen</PresentationFormat>
  <Paragraphs>235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RealEstateManager</vt:lpstr>
      <vt:lpstr>Your property portfolio, leases and accounts — in one system</vt:lpstr>
      <vt:lpstr>Running a portfolio on spreadsheets costs time and control</vt:lpstr>
      <vt:lpstr>One system where every action is also the accounting</vt:lpstr>
      <vt:lpstr>From signed lease to closed month, step by step</vt:lpstr>
      <vt:lpstr>The whole portfolio at a glance</vt:lpstr>
      <vt:lpstr>Leasing: one contract creates a year of work</vt:lpstr>
      <vt:lpstr>Collections: every cheque followed until it clears</vt:lpstr>
      <vt:lpstr>UAE VAT and e-invoicing, handled for you</vt:lpstr>
      <vt:lpstr>Owned and managed properties, side by side</vt:lpstr>
      <vt:lpstr>Suppliers, petty cash and assets in the same ledger</vt:lpstr>
      <vt:lpstr>Close every month with confidence: the Closing Cockpit</vt:lpstr>
      <vt:lpstr>Reports for owners, managers and auditors</vt:lpstr>
      <vt:lpstr>A self-service portal your tenants can use on their phone</vt:lpstr>
      <vt:lpstr>Security and control you can show an auditor</vt:lpstr>
      <vt:lpstr>Getting started is simple</vt:lpstr>
      <vt:lpstr>Thank you</vt:lpstr>
    </vt:vector>
  </TitlesOfParts>
  <Company>RealEstateManager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RealEstateManager — Product Presentation</dc:title>
  <dc:subject>PptxGenJS Presentation</dc:subject>
  <dc:creator>Anas Odeh</dc:creator>
  <cp:lastModifiedBy>Anas Eissa Odeh</cp:lastModifiedBy>
  <cp:revision>1</cp:revision>
  <dcterms:created xsi:type="dcterms:W3CDTF">2026-10-26T07:47:31Z</dcterms:created>
  <dcterms:modified xsi:type="dcterms:W3CDTF">2026-10-26T08:01:12Z</dcterms:modified>
</cp:coreProperties>
</file>